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7"/>
  </p:notesMasterIdLst>
  <p:sldIdLst>
    <p:sldId id="256" r:id="rId2"/>
    <p:sldId id="263" r:id="rId3"/>
    <p:sldId id="257" r:id="rId4"/>
    <p:sldId id="259" r:id="rId5"/>
    <p:sldId id="269" r:id="rId6"/>
    <p:sldId id="258" r:id="rId7"/>
    <p:sldId id="260" r:id="rId8"/>
    <p:sldId id="266" r:id="rId9"/>
    <p:sldId id="267" r:id="rId10"/>
    <p:sldId id="262" r:id="rId11"/>
    <p:sldId id="268" r:id="rId12"/>
    <p:sldId id="265" r:id="rId13"/>
    <p:sldId id="261" r:id="rId14"/>
    <p:sldId id="270" r:id="rId15"/>
    <p:sldId id="264"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1AD5835-AFC1-40A6-AA46-FAE8C073E558}">
          <p14:sldIdLst>
            <p14:sldId id="256"/>
            <p14:sldId id="263"/>
          </p14:sldIdLst>
        </p14:section>
        <p14:section name="Untitled Section" id="{145F791F-F584-4750-96D4-2791F30D562E}">
          <p14:sldIdLst>
            <p14:sldId id="257"/>
            <p14:sldId id="259"/>
            <p14:sldId id="269"/>
            <p14:sldId id="258"/>
            <p14:sldId id="260"/>
            <p14:sldId id="266"/>
            <p14:sldId id="267"/>
            <p14:sldId id="262"/>
            <p14:sldId id="268"/>
            <p14:sldId id="265"/>
            <p14:sldId id="261"/>
            <p14:sldId id="270"/>
            <p14:sldId id="2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500"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BE9E5C-8FC3-401D-AC21-8A1CC096798C}" type="datetimeFigureOut">
              <a:rPr lang="en-IN" smtClean="0"/>
              <a:t>25-05-2025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E57AB9-107D-41A2-9AF4-01C8BAF30889}" type="slidenum">
              <a:rPr lang="en-IN" smtClean="0"/>
              <a:t>‹#›</a:t>
            </a:fld>
            <a:endParaRPr lang="en-IN"/>
          </a:p>
        </p:txBody>
      </p:sp>
    </p:spTree>
    <p:extLst>
      <p:ext uri="{BB962C8B-B14F-4D97-AF65-F5344CB8AC3E}">
        <p14:creationId xmlns:p14="http://schemas.microsoft.com/office/powerpoint/2010/main" val="2750889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EE57AB9-107D-41A2-9AF4-01C8BAF30889}" type="slidenum">
              <a:rPr lang="en-IN" smtClean="0"/>
              <a:t>3</a:t>
            </a:fld>
            <a:endParaRPr lang="en-IN"/>
          </a:p>
        </p:txBody>
      </p:sp>
    </p:spTree>
    <p:extLst>
      <p:ext uri="{BB962C8B-B14F-4D97-AF65-F5344CB8AC3E}">
        <p14:creationId xmlns:p14="http://schemas.microsoft.com/office/powerpoint/2010/main" val="2335780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47EDA88-28BC-4439-A0AE-DFFE7D5FFCFD}" type="datetimeFigureOut">
              <a:rPr lang="en-IN" smtClean="0"/>
              <a:t>25-05-2025</a:t>
            </a:fld>
            <a:endParaRPr lang="en-IN"/>
          </a:p>
        </p:txBody>
      </p:sp>
      <p:sp>
        <p:nvSpPr>
          <p:cNvPr id="20" name="Footer Placeholder 19"/>
          <p:cNvSpPr>
            <a:spLocks noGrp="1"/>
          </p:cNvSpPr>
          <p:nvPr>
            <p:ph type="ftr" sz="quarter" idx="11"/>
          </p:nvPr>
        </p:nvSpPr>
        <p:spPr/>
        <p:txBody>
          <a:bodyPr/>
          <a:lstStyle>
            <a:extLst/>
          </a:lstStyle>
          <a:p>
            <a:endParaRPr lang="en-IN"/>
          </a:p>
        </p:txBody>
      </p:sp>
      <p:sp>
        <p:nvSpPr>
          <p:cNvPr id="10" name="Slide Number Placeholder 9"/>
          <p:cNvSpPr>
            <a:spLocks noGrp="1"/>
          </p:cNvSpPr>
          <p:nvPr>
            <p:ph type="sldNum" sz="quarter" idx="12"/>
          </p:nvPr>
        </p:nvSpPr>
        <p:spPr/>
        <p:txBody>
          <a:bodyPr/>
          <a:lstStyle>
            <a:extLst/>
          </a:lstStyle>
          <a:p>
            <a:fld id="{F4C543BA-E7DD-43A1-8CEC-406CE5D32B0D}" type="slidenum">
              <a:rPr lang="en-IN" smtClean="0"/>
              <a:t>‹#›</a:t>
            </a:fld>
            <a:endParaRPr lang="en-IN"/>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47EDA88-28BC-4439-A0AE-DFFE7D5FFCFD}" type="datetimeFigureOut">
              <a:rPr lang="en-IN" smtClean="0"/>
              <a:t>25-05-2025</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4C543BA-E7DD-43A1-8CEC-406CE5D32B0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47EDA88-28BC-4439-A0AE-DFFE7D5FFCFD}" type="datetimeFigureOut">
              <a:rPr lang="en-IN" smtClean="0"/>
              <a:t>25-05-2025</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4C543BA-E7DD-43A1-8CEC-406CE5D32B0D}" type="slidenum">
              <a:rPr lang="en-IN" smtClean="0"/>
              <a:t>‹#›</a:t>
            </a:fld>
            <a:endParaRPr lang="en-IN"/>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47EDA88-28BC-4439-A0AE-DFFE7D5FFCFD}" type="datetimeFigureOut">
              <a:rPr lang="en-IN" smtClean="0"/>
              <a:t>25-05-2025</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F4C543BA-E7DD-43A1-8CEC-406CE5D32B0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47EDA88-28BC-4439-A0AE-DFFE7D5FFCFD}" type="datetimeFigureOut">
              <a:rPr lang="en-IN" smtClean="0"/>
              <a:t>25-05-2025</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F4C543BA-E7DD-43A1-8CEC-406CE5D32B0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47EDA88-28BC-4439-A0AE-DFFE7D5FFCFD}" type="datetimeFigureOut">
              <a:rPr lang="en-IN" smtClean="0"/>
              <a:t>25-05-2025</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F4C543BA-E7DD-43A1-8CEC-406CE5D32B0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47EDA88-28BC-4439-A0AE-DFFE7D5FFCFD}" type="datetimeFigureOut">
              <a:rPr lang="en-IN" smtClean="0"/>
              <a:t>25-05-2025</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F4C543BA-E7DD-43A1-8CEC-406CE5D32B0D}" type="slidenum">
              <a:rPr lang="en-IN" smtClean="0"/>
              <a:t>‹#›</a:t>
            </a:fld>
            <a:endParaRPr lang="en-IN"/>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47EDA88-28BC-4439-A0AE-DFFE7D5FFCFD}" type="datetimeFigureOut">
              <a:rPr lang="en-IN" smtClean="0"/>
              <a:t>25-05-2025</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F4C543BA-E7DD-43A1-8CEC-406CE5D32B0D}"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47EDA88-28BC-4439-A0AE-DFFE7D5FFCFD}" type="datetimeFigureOut">
              <a:rPr lang="en-IN" smtClean="0"/>
              <a:t>25-05-2025</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F4C543BA-E7DD-43A1-8CEC-406CE5D32B0D}" type="slidenum">
              <a:rPr lang="en-IN" smtClean="0"/>
              <a:t>‹#›</a:t>
            </a:fld>
            <a:endParaRPr lang="en-IN"/>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47EDA88-28BC-4439-A0AE-DFFE7D5FFCFD}" type="datetimeFigureOut">
              <a:rPr lang="en-IN" smtClean="0"/>
              <a:t>25-05-2025</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4C543BA-E7DD-43A1-8CEC-406CE5D32B0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47EDA88-28BC-4439-A0AE-DFFE7D5FFCFD}" type="datetimeFigureOut">
              <a:rPr lang="en-IN" smtClean="0"/>
              <a:t>25-05-2025</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4C543BA-E7DD-43A1-8CEC-406CE5D32B0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47EDA88-28BC-4439-A0AE-DFFE7D5FFCFD}" type="datetimeFigureOut">
              <a:rPr lang="en-IN" smtClean="0"/>
              <a:t>25-05-2025</a:t>
            </a:fld>
            <a:endParaRPr lang="en-IN"/>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IN"/>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F4C543BA-E7DD-43A1-8CEC-406CE5D32B0D}" type="slidenum">
              <a:rPr lang="en-IN" smtClean="0"/>
              <a:t>‹#›</a:t>
            </a:fld>
            <a:endParaRPr lang="en-IN"/>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52400"/>
            <a:ext cx="8229600" cy="1143000"/>
          </a:xfrm>
          <a:solidFill>
            <a:srgbClr val="92D050"/>
          </a:solidFill>
        </p:spPr>
        <p:txBody>
          <a:bodyPr>
            <a:normAutofit fontScale="90000"/>
          </a:bodyPr>
          <a:lstStyle/>
          <a:p>
            <a:r>
              <a:rPr lang="en-US" sz="4800" dirty="0" smtClean="0">
                <a:solidFill>
                  <a:srgbClr val="0070C0"/>
                </a:solidFill>
              </a:rPr>
              <a:t>ANIMAL DETECTION </a:t>
            </a:r>
            <a:r>
              <a:rPr lang="en-US" sz="4800" dirty="0" smtClean="0">
                <a:solidFill>
                  <a:srgbClr val="0070C0"/>
                </a:solidFill>
              </a:rPr>
              <a:t>SYSTEM </a:t>
            </a:r>
            <a:endParaRPr lang="en-IN" sz="4800" dirty="0">
              <a:solidFill>
                <a:srgbClr val="0070C0"/>
              </a:solidFill>
            </a:endParaRPr>
          </a:p>
        </p:txBody>
      </p:sp>
      <p:sp>
        <p:nvSpPr>
          <p:cNvPr id="5" name="Text Placeholder 4"/>
          <p:cNvSpPr>
            <a:spLocks noGrp="1"/>
          </p:cNvSpPr>
          <p:nvPr>
            <p:ph type="body" idx="1"/>
          </p:nvPr>
        </p:nvSpPr>
        <p:spPr>
          <a:xfrm>
            <a:off x="533400" y="1371600"/>
            <a:ext cx="4023360" cy="640080"/>
          </a:xfrm>
        </p:spPr>
        <p:txBody>
          <a:bodyPr>
            <a:normAutofit lnSpcReduction="10000"/>
          </a:bodyPr>
          <a:lstStyle/>
          <a:p>
            <a:r>
              <a:rPr lang="en-US" dirty="0" smtClean="0">
                <a:solidFill>
                  <a:schemeClr val="tx1"/>
                </a:solidFill>
              </a:rPr>
              <a:t>ADINA INSTITUTE OF SCIENCE &amp; TECHNOLOGY SAGAR</a:t>
            </a:r>
            <a:endParaRPr lang="en-IN" dirty="0">
              <a:solidFill>
                <a:schemeClr val="tx1"/>
              </a:solidFill>
            </a:endParaRPr>
          </a:p>
        </p:txBody>
      </p:sp>
      <p:pic>
        <p:nvPicPr>
          <p:cNvPr id="9" name="Content Placeholder 8"/>
          <p:cNvPicPr>
            <a:picLocks noGrp="1" noChangeAspect="1"/>
          </p:cNvPicPr>
          <p:nvPr>
            <p:ph sz="quarter" idx="2"/>
          </p:nvPr>
        </p:nvPicPr>
        <p:blipFill>
          <a:blip r:embed="rId2">
            <a:extLst>
              <a:ext uri="{28A0092B-C50C-407E-A947-70E740481C1C}">
                <a14:useLocalDpi xmlns:a14="http://schemas.microsoft.com/office/drawing/2010/main" val="0"/>
              </a:ext>
            </a:extLst>
          </a:blip>
          <a:stretch>
            <a:fillRect/>
          </a:stretch>
        </p:blipFill>
        <p:spPr>
          <a:xfrm>
            <a:off x="533400" y="2438400"/>
            <a:ext cx="4038600" cy="3657600"/>
          </a:xfrm>
        </p:spPr>
      </p:pic>
      <p:sp>
        <p:nvSpPr>
          <p:cNvPr id="8" name="Content Placeholder 7"/>
          <p:cNvSpPr>
            <a:spLocks noGrp="1"/>
          </p:cNvSpPr>
          <p:nvPr>
            <p:ph sz="quarter" idx="4"/>
          </p:nvPr>
        </p:nvSpPr>
        <p:spPr>
          <a:xfrm>
            <a:off x="4724400" y="2362200"/>
            <a:ext cx="4041775" cy="3951288"/>
          </a:xfrm>
          <a:solidFill>
            <a:srgbClr val="C00000"/>
          </a:solidFill>
          <a:ln>
            <a:solidFill>
              <a:srgbClr val="66FFFF"/>
            </a:solidFill>
          </a:ln>
        </p:spPr>
        <p:txBody>
          <a:bodyPr>
            <a:normAutofit lnSpcReduction="10000"/>
          </a:bodyPr>
          <a:lstStyle/>
          <a:p>
            <a:pPr marL="0" indent="0">
              <a:buNone/>
            </a:pPr>
            <a:r>
              <a:rPr lang="en-US" sz="2800" b="1" u="sng" dirty="0">
                <a:solidFill>
                  <a:srgbClr val="92D050"/>
                </a:solidFill>
              </a:rPr>
              <a:t>Team Members </a:t>
            </a:r>
            <a:r>
              <a:rPr lang="en-US" sz="2800" b="1" u="sng" dirty="0" smtClean="0">
                <a:solidFill>
                  <a:srgbClr val="92D050"/>
                </a:solidFill>
              </a:rPr>
              <a:t>:</a:t>
            </a:r>
          </a:p>
          <a:p>
            <a:pPr marL="0" indent="0">
              <a:buNone/>
            </a:pPr>
            <a:r>
              <a:rPr lang="en-US" sz="2000" b="1" u="sng" dirty="0" err="1" smtClean="0">
                <a:solidFill>
                  <a:srgbClr val="92D050"/>
                </a:solidFill>
              </a:rPr>
              <a:t>Anuj</a:t>
            </a:r>
            <a:r>
              <a:rPr lang="en-US" sz="2000" b="1" u="sng" dirty="0" smtClean="0">
                <a:solidFill>
                  <a:srgbClr val="92D050"/>
                </a:solidFill>
              </a:rPr>
              <a:t> </a:t>
            </a:r>
            <a:r>
              <a:rPr lang="en-US" sz="2000" b="1" u="sng" dirty="0" err="1" smtClean="0">
                <a:solidFill>
                  <a:srgbClr val="92D050"/>
                </a:solidFill>
              </a:rPr>
              <a:t>Kurmi</a:t>
            </a:r>
            <a:endParaRPr lang="en-US" sz="2000" b="1" u="sng" dirty="0" smtClean="0">
              <a:solidFill>
                <a:srgbClr val="92D050"/>
              </a:solidFill>
            </a:endParaRPr>
          </a:p>
          <a:p>
            <a:pPr marL="0" indent="0">
              <a:buNone/>
            </a:pPr>
            <a:r>
              <a:rPr lang="en-US" sz="2000" b="1" u="sng" dirty="0" err="1" smtClean="0">
                <a:solidFill>
                  <a:srgbClr val="92D050"/>
                </a:solidFill>
              </a:rPr>
              <a:t>Gourav</a:t>
            </a:r>
            <a:r>
              <a:rPr lang="en-US" sz="2000" b="1" u="sng" dirty="0" smtClean="0">
                <a:solidFill>
                  <a:srgbClr val="92D050"/>
                </a:solidFill>
              </a:rPr>
              <a:t> </a:t>
            </a:r>
            <a:r>
              <a:rPr lang="en-US" sz="2000" b="1" u="sng" dirty="0" err="1" smtClean="0">
                <a:solidFill>
                  <a:srgbClr val="92D050"/>
                </a:solidFill>
              </a:rPr>
              <a:t>Kurmi</a:t>
            </a:r>
            <a:r>
              <a:rPr lang="en-US" sz="2000" b="1" u="sng" dirty="0" smtClean="0">
                <a:solidFill>
                  <a:srgbClr val="92D050"/>
                </a:solidFill>
              </a:rPr>
              <a:t> </a:t>
            </a:r>
          </a:p>
          <a:p>
            <a:pPr marL="0" indent="0">
              <a:buNone/>
            </a:pPr>
            <a:r>
              <a:rPr lang="en-US" sz="2000" b="1" dirty="0" err="1" smtClean="0">
                <a:solidFill>
                  <a:srgbClr val="92D050"/>
                </a:solidFill>
              </a:rPr>
              <a:t>Deeksha</a:t>
            </a:r>
            <a:r>
              <a:rPr lang="en-US" sz="2000" b="1" dirty="0" smtClean="0">
                <a:solidFill>
                  <a:srgbClr val="92D050"/>
                </a:solidFill>
              </a:rPr>
              <a:t> </a:t>
            </a:r>
            <a:r>
              <a:rPr lang="en-US" sz="2000" b="1" dirty="0" err="1" smtClean="0">
                <a:solidFill>
                  <a:srgbClr val="92D050"/>
                </a:solidFill>
              </a:rPr>
              <a:t>Sahu</a:t>
            </a:r>
            <a:endParaRPr lang="en-US" sz="2000" b="1" dirty="0" smtClean="0">
              <a:solidFill>
                <a:srgbClr val="92D050"/>
              </a:solidFill>
            </a:endParaRPr>
          </a:p>
          <a:p>
            <a:pPr marL="0" indent="0">
              <a:buNone/>
            </a:pPr>
            <a:r>
              <a:rPr lang="en-US" sz="2000" b="1" dirty="0" err="1" smtClean="0">
                <a:solidFill>
                  <a:srgbClr val="92D050"/>
                </a:solidFill>
              </a:rPr>
              <a:t>Ragini</a:t>
            </a:r>
            <a:r>
              <a:rPr lang="en-US" sz="2000" b="1" dirty="0" smtClean="0">
                <a:solidFill>
                  <a:srgbClr val="92D050"/>
                </a:solidFill>
              </a:rPr>
              <a:t> Patel</a:t>
            </a:r>
          </a:p>
          <a:p>
            <a:pPr marL="0" indent="0">
              <a:buNone/>
            </a:pPr>
            <a:endParaRPr lang="en-US" sz="2000" b="1" dirty="0">
              <a:solidFill>
                <a:schemeClr val="accent2"/>
              </a:solidFill>
            </a:endParaRPr>
          </a:p>
          <a:p>
            <a:r>
              <a:rPr lang="en-US" sz="2000" b="1" u="sng" dirty="0">
                <a:solidFill>
                  <a:schemeClr val="accent6">
                    <a:lumMod val="20000"/>
                    <a:lumOff val="80000"/>
                  </a:schemeClr>
                </a:solidFill>
              </a:rPr>
              <a:t>Project Guide </a:t>
            </a:r>
            <a:r>
              <a:rPr lang="en-US" sz="2000" b="1" dirty="0">
                <a:solidFill>
                  <a:schemeClr val="accent6">
                    <a:lumMod val="20000"/>
                    <a:lumOff val="80000"/>
                  </a:schemeClr>
                </a:solidFill>
              </a:rPr>
              <a:t>- </a:t>
            </a:r>
          </a:p>
          <a:p>
            <a:r>
              <a:rPr lang="en-US" sz="2000" dirty="0">
                <a:solidFill>
                  <a:srgbClr val="92D050"/>
                </a:solidFill>
              </a:rPr>
              <a:t>           </a:t>
            </a:r>
            <a:r>
              <a:rPr lang="en-US" sz="2000" dirty="0"/>
              <a:t>Mr.</a:t>
            </a:r>
            <a:r>
              <a:rPr lang="en-US" sz="2000" dirty="0">
                <a:solidFill>
                  <a:srgbClr val="92D050"/>
                </a:solidFill>
              </a:rPr>
              <a:t> </a:t>
            </a:r>
            <a:r>
              <a:rPr lang="en-US" sz="2000" dirty="0" err="1" smtClean="0"/>
              <a:t>Anurag</a:t>
            </a:r>
            <a:r>
              <a:rPr lang="en-US" sz="2000" dirty="0"/>
              <a:t> Jain</a:t>
            </a:r>
          </a:p>
          <a:p>
            <a:r>
              <a:rPr lang="en-US" sz="2000" dirty="0"/>
              <a:t>           </a:t>
            </a:r>
            <a:r>
              <a:rPr lang="en-US" sz="1800" dirty="0">
                <a:solidFill>
                  <a:srgbClr val="FFFF00"/>
                </a:solidFill>
              </a:rPr>
              <a:t>Asst. Professor</a:t>
            </a:r>
          </a:p>
          <a:p>
            <a:pPr marL="0" indent="0">
              <a:buNone/>
            </a:pPr>
            <a:r>
              <a:rPr lang="en-US" sz="2000" b="1" dirty="0" smtClean="0">
                <a:solidFill>
                  <a:schemeClr val="accent2"/>
                </a:solidFill>
              </a:rPr>
              <a:t>  </a:t>
            </a:r>
            <a:endParaRPr lang="en-US" sz="2000" b="1" dirty="0" smtClean="0">
              <a:solidFill>
                <a:schemeClr val="accent2"/>
              </a:solidFill>
            </a:endParaRPr>
          </a:p>
        </p:txBody>
      </p:sp>
    </p:spTree>
    <p:extLst>
      <p:ext uri="{BB962C8B-B14F-4D97-AF65-F5344CB8AC3E}">
        <p14:creationId xmlns:p14="http://schemas.microsoft.com/office/powerpoint/2010/main" val="1992865987"/>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nodeType="clickEffect">
                                  <p:stCondLst>
                                    <p:cond delay="0"/>
                                  </p:stCondLst>
                                  <p:childTnLst>
                                    <p:animEffect transition="out" filter="fade">
                                      <p:cBhvr>
                                        <p:cTn id="6" dur="2000"/>
                                        <p:tgtEl>
                                          <p:spTgt spid="9"/>
                                        </p:tgtEl>
                                      </p:cBhvr>
                                    </p:animEffect>
                                    <p:anim calcmode="lin" valueType="num">
                                      <p:cBhvr>
                                        <p:cTn id="7" dur="2000"/>
                                        <p:tgtEl>
                                          <p:spTgt spid="9"/>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9"/>
                                        </p:tgtEl>
                                        <p:attrNameLst>
                                          <p:attrName>ppt_h</p:attrName>
                                        </p:attrNameLst>
                                      </p:cBhvr>
                                      <p:tavLst>
                                        <p:tav tm="0">
                                          <p:val>
                                            <p:strVal val="ppt_h"/>
                                          </p:val>
                                        </p:tav>
                                        <p:tav tm="100000">
                                          <p:val>
                                            <p:strVal val="ppt_h"/>
                                          </p:val>
                                        </p:tav>
                                      </p:tavLst>
                                    </p:anim>
                                    <p:set>
                                      <p:cBhvr>
                                        <p:cTn id="9" dur="1" fill="hold">
                                          <p:stCondLst>
                                            <p:cond delay="1999"/>
                                          </p:stCondLst>
                                        </p:cTn>
                                        <p:tgtEl>
                                          <p:spTgt spid="9"/>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45" presetClass="exit" presetSubtype="0" fill="hold" nodeType="clickEffect">
                                  <p:stCondLst>
                                    <p:cond delay="0"/>
                                  </p:stCondLst>
                                  <p:childTnLst>
                                    <p:animEffect transition="out" filter="fade">
                                      <p:cBhvr>
                                        <p:cTn id="13" dur="2000"/>
                                        <p:tgtEl>
                                          <p:spTgt spid="9"/>
                                        </p:tgtEl>
                                      </p:cBhvr>
                                    </p:animEffect>
                                    <p:anim calcmode="lin" valueType="num">
                                      <p:cBhvr>
                                        <p:cTn id="14" dur="2000"/>
                                        <p:tgtEl>
                                          <p:spTgt spid="9"/>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5" dur="2000"/>
                                        <p:tgtEl>
                                          <p:spTgt spid="9"/>
                                        </p:tgtEl>
                                        <p:attrNameLst>
                                          <p:attrName>ppt_h</p:attrName>
                                        </p:attrNameLst>
                                      </p:cBhvr>
                                      <p:tavLst>
                                        <p:tav tm="0">
                                          <p:val>
                                            <p:strVal val="ppt_h"/>
                                          </p:val>
                                        </p:tav>
                                        <p:tav tm="100000">
                                          <p:val>
                                            <p:strVal val="ppt_h"/>
                                          </p:val>
                                        </p:tav>
                                      </p:tavLst>
                                    </p:anim>
                                    <p:set>
                                      <p:cBhvr>
                                        <p:cTn id="16" dur="1" fill="hold">
                                          <p:stCondLst>
                                            <p:cond delay="19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7"/>
          <p:cNvSpPr>
            <a:spLocks noGrp="1"/>
          </p:cNvSpPr>
          <p:nvPr>
            <p:ph type="title"/>
          </p:nvPr>
        </p:nvSpPr>
        <p:spPr>
          <a:xfrm>
            <a:off x="457200" y="533400"/>
            <a:ext cx="8183880" cy="1051560"/>
          </a:xfrm>
          <a:solidFill>
            <a:srgbClr val="C00000"/>
          </a:solidFill>
          <a:ln>
            <a:solidFill>
              <a:srgbClr val="66FFFF"/>
            </a:solidFill>
          </a:ln>
        </p:spPr>
        <p:txBody>
          <a:bodyPr>
            <a:normAutofit/>
          </a:bodyPr>
          <a:lstStyle/>
          <a:p>
            <a:r>
              <a:rPr lang="en-US" sz="2800" b="1" dirty="0" smtClean="0">
                <a:solidFill>
                  <a:srgbClr val="FFC000"/>
                </a:solidFill>
              </a:rPr>
              <a:t>TABEL OF CONTENT </a:t>
            </a:r>
            <a:endParaRPr lang="en-IN" sz="2800" b="1" dirty="0">
              <a:solidFill>
                <a:srgbClr val="FFC000"/>
              </a:solidFill>
            </a:endParaRPr>
          </a:p>
        </p:txBody>
      </p:sp>
      <p:sp>
        <p:nvSpPr>
          <p:cNvPr id="5" name="Content Placeholder 7"/>
          <p:cNvSpPr>
            <a:spLocks noGrp="1"/>
          </p:cNvSpPr>
          <p:nvPr>
            <p:ph idx="1"/>
          </p:nvPr>
        </p:nvSpPr>
        <p:spPr>
          <a:xfrm>
            <a:off x="533400" y="1905000"/>
            <a:ext cx="8183880" cy="4187952"/>
          </a:xfrm>
          <a:solidFill>
            <a:srgbClr val="C00000"/>
          </a:solidFill>
          <a:ln>
            <a:solidFill>
              <a:srgbClr val="66FFFF"/>
            </a:solidFill>
          </a:ln>
        </p:spPr>
        <p:txBody>
          <a:bodyPr>
            <a:normAutofit fontScale="85000" lnSpcReduction="20000"/>
          </a:bodyPr>
          <a:lstStyle/>
          <a:p>
            <a:r>
              <a:rPr lang="en-US" sz="2800" b="1" dirty="0" smtClean="0"/>
              <a:t>INTRODUCTION</a:t>
            </a:r>
          </a:p>
          <a:p>
            <a:r>
              <a:rPr lang="en-US" sz="2800" b="1" dirty="0" smtClean="0"/>
              <a:t>WORKING</a:t>
            </a:r>
          </a:p>
          <a:p>
            <a:r>
              <a:rPr lang="en-US" sz="2800" b="1" dirty="0" smtClean="0"/>
              <a:t>BENEFITS</a:t>
            </a:r>
          </a:p>
          <a:p>
            <a:r>
              <a:rPr lang="en-US" sz="2800" b="1" dirty="0" smtClean="0"/>
              <a:t>TECHNOLOGIES</a:t>
            </a:r>
          </a:p>
          <a:p>
            <a:r>
              <a:rPr lang="en-US" sz="2800" b="1" dirty="0" smtClean="0"/>
              <a:t>PYTHON </a:t>
            </a:r>
            <a:endParaRPr lang="en-US" sz="2800" b="1" dirty="0"/>
          </a:p>
          <a:p>
            <a:r>
              <a:rPr lang="en-US" sz="2800" b="1" dirty="0" smtClean="0"/>
              <a:t>APPLICATIONS</a:t>
            </a:r>
            <a:endParaRPr lang="en-US" sz="2800" b="1" dirty="0" smtClean="0"/>
          </a:p>
          <a:p>
            <a:r>
              <a:rPr lang="en-US" sz="2800" b="1" dirty="0" smtClean="0"/>
              <a:t>ADVANTAGES</a:t>
            </a:r>
          </a:p>
          <a:p>
            <a:r>
              <a:rPr lang="en-US" sz="2800" b="1" dirty="0" smtClean="0"/>
              <a:t>FUTURE DIRECTION</a:t>
            </a:r>
            <a:endParaRPr lang="en-US" sz="2800" b="1" dirty="0" smtClean="0"/>
          </a:p>
          <a:p>
            <a:r>
              <a:rPr lang="en-US" sz="2800" b="1" dirty="0" smtClean="0"/>
              <a:t>UI OF THE PROJECT </a:t>
            </a:r>
            <a:endParaRPr lang="en-US" sz="2800" b="1" dirty="0" smtClean="0"/>
          </a:p>
          <a:p>
            <a:r>
              <a:rPr lang="en-US" sz="2800" b="1" dirty="0" smtClean="0"/>
              <a:t>CONCLUSION</a:t>
            </a:r>
          </a:p>
          <a:p>
            <a:r>
              <a:rPr lang="en-US" sz="2800" b="1" dirty="0" smtClean="0"/>
              <a:t>REFERENCE</a:t>
            </a:r>
            <a:endParaRPr lang="en-IN" sz="2800" b="1" dirty="0"/>
          </a:p>
        </p:txBody>
      </p:sp>
    </p:spTree>
    <p:extLst>
      <p:ext uri="{BB962C8B-B14F-4D97-AF65-F5344CB8AC3E}">
        <p14:creationId xmlns:p14="http://schemas.microsoft.com/office/powerpoint/2010/main" val="18575723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33400"/>
            <a:ext cx="8229600" cy="1143000"/>
          </a:xfrm>
          <a:ln>
            <a:solidFill>
              <a:srgbClr val="002060"/>
            </a:solidFill>
          </a:ln>
        </p:spPr>
        <p:txBody>
          <a:bodyPr>
            <a:normAutofit/>
          </a:bodyPr>
          <a:lstStyle/>
          <a:p>
            <a:pPr algn="ctr"/>
            <a:r>
              <a:rPr lang="en-US" sz="5400" i="1" dirty="0" smtClean="0">
                <a:solidFill>
                  <a:srgbClr val="00B0F0"/>
                </a:solidFill>
              </a:rPr>
              <a:t>INTRODUCTION</a:t>
            </a:r>
            <a:endParaRPr lang="en-IN" sz="5400" i="1" dirty="0">
              <a:solidFill>
                <a:srgbClr val="00B0F0"/>
              </a:solidFill>
            </a:endParaRPr>
          </a:p>
        </p:txBody>
      </p:sp>
      <p:sp>
        <p:nvSpPr>
          <p:cNvPr id="3" name="Rectangle 1"/>
          <p:cNvSpPr>
            <a:spLocks noChangeArrowheads="1"/>
          </p:cNvSpPr>
          <p:nvPr/>
        </p:nvSpPr>
        <p:spPr bwMode="auto">
          <a:xfrm>
            <a:off x="1062990" y="2286000"/>
            <a:ext cx="776478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buFontTx/>
              <a:buChar char="•"/>
            </a:pPr>
            <a:r>
              <a:rPr lang="en-US" dirty="0">
                <a:solidFill>
                  <a:srgbClr val="FF0000"/>
                </a:solidFill>
                <a:latin typeface="Arial" charset="0"/>
                <a:cs typeface="Arial" charset="0"/>
              </a:rPr>
              <a:t>The Animal Recognition System is a cutting-edge technology that utilizes machine learning and computer vision to identify and classify animal species in images and videos. This system has numerous applications in wildlife conservation, research, and education, providing a powerful tool for understanding and protecting our planet's diverse </a:t>
            </a:r>
            <a:r>
              <a:rPr lang="en-US" dirty="0" err="1">
                <a:solidFill>
                  <a:srgbClr val="FF0000"/>
                </a:solidFill>
                <a:latin typeface="Arial" charset="0"/>
                <a:cs typeface="Arial" charset="0"/>
              </a:rPr>
              <a:t>wildlife.A</a:t>
            </a:r>
            <a:r>
              <a:rPr lang="en-US" dirty="0">
                <a:solidFill>
                  <a:srgbClr val="FF0000"/>
                </a:solidFill>
                <a:latin typeface="Arial" charset="0"/>
                <a:cs typeface="Arial" charset="0"/>
              </a:rPr>
              <a:t> </a:t>
            </a:r>
            <a:r>
              <a:rPr kumimoji="0" lang="en-US" sz="1800" b="0" i="0" u="none" strike="noStrike" cap="none" normalizeH="0" baseline="0" dirty="0" smtClean="0">
                <a:ln>
                  <a:noFill/>
                </a:ln>
                <a:solidFill>
                  <a:srgbClr val="FF0000"/>
                </a:solidFill>
                <a:effectLst/>
                <a:latin typeface="Arial" charset="0"/>
                <a:cs typeface="Arial" charset="0"/>
              </a:rPr>
              <a:t>system that can </a:t>
            </a:r>
            <a:r>
              <a:rPr kumimoji="0" lang="en-US" sz="1800" b="1" i="0" u="none" strike="noStrike" cap="none" normalizeH="0" baseline="0" dirty="0" smtClean="0">
                <a:ln>
                  <a:noFill/>
                </a:ln>
                <a:solidFill>
                  <a:srgbClr val="FF0000"/>
                </a:solidFill>
                <a:effectLst/>
                <a:latin typeface="Arial" charset="0"/>
                <a:cs typeface="Arial" charset="0"/>
              </a:rPr>
              <a:t>identify animals</a:t>
            </a:r>
            <a:r>
              <a:rPr kumimoji="0" lang="en-US" sz="1800" b="0" i="0" u="none" strike="noStrike" cap="none" normalizeH="0" baseline="0" dirty="0" smtClean="0">
                <a:ln>
                  <a:noFill/>
                </a:ln>
                <a:solidFill>
                  <a:srgbClr val="FF0000"/>
                </a:solidFill>
                <a:effectLst/>
                <a:latin typeface="Arial" charset="0"/>
                <a:cs typeface="Arial" charset="0"/>
              </a:rPr>
              <a:t> using </a:t>
            </a:r>
            <a:r>
              <a:rPr kumimoji="0" lang="en-US" sz="1800" b="1" i="0" u="none" strike="noStrike" cap="none" normalizeH="0" baseline="0" dirty="0" smtClean="0">
                <a:ln>
                  <a:noFill/>
                </a:ln>
                <a:solidFill>
                  <a:srgbClr val="FF0000"/>
                </a:solidFill>
                <a:effectLst/>
                <a:latin typeface="Arial" charset="0"/>
                <a:cs typeface="Arial" charset="0"/>
              </a:rPr>
              <a:t>cameras and software</a:t>
            </a:r>
            <a:r>
              <a:rPr kumimoji="0" lang="en-US" sz="1800" b="0" i="0" u="none" strike="noStrike" cap="none" normalizeH="0" baseline="0" dirty="0" smtClean="0">
                <a:ln>
                  <a:noFill/>
                </a:ln>
                <a:solidFill>
                  <a:srgbClr val="FF0000"/>
                </a:solidFill>
                <a:effectLst/>
                <a:latin typeface="Arial" charset="0"/>
                <a:cs typeface="Arial" charset="0"/>
              </a:rPr>
              <a:t>.</a:t>
            </a:r>
          </a:p>
          <a:p>
            <a:pPr lvl="0" fontAlgn="base">
              <a:spcBef>
                <a:spcPct val="0"/>
              </a:spcBef>
              <a:spcAft>
                <a:spcPct val="0"/>
              </a:spcAft>
            </a:pPr>
            <a:endParaRPr kumimoji="0" lang="en-US" sz="1800" b="0" i="0" u="none" strike="noStrike" cap="none" normalizeH="0" baseline="0" dirty="0" smtClean="0">
              <a:ln>
                <a:noFill/>
              </a:ln>
              <a:solidFill>
                <a:srgbClr val="FF0000"/>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rgbClr val="FF0000"/>
                </a:solidFill>
                <a:effectLst/>
                <a:latin typeface="Arial" charset="0"/>
                <a:cs typeface="Arial" charset="0"/>
              </a:rPr>
              <a:t>It uses </a:t>
            </a:r>
            <a:r>
              <a:rPr kumimoji="0" lang="en-US" sz="1800" b="1" i="0" u="none" strike="noStrike" cap="none" normalizeH="0" baseline="0" dirty="0" smtClean="0">
                <a:ln>
                  <a:noFill/>
                </a:ln>
                <a:solidFill>
                  <a:srgbClr val="FF0000"/>
                </a:solidFill>
                <a:effectLst/>
                <a:latin typeface="Arial" charset="0"/>
                <a:cs typeface="Arial" charset="0"/>
              </a:rPr>
              <a:t>AI (Artificial Intelligence)</a:t>
            </a:r>
            <a:r>
              <a:rPr kumimoji="0" lang="en-US" sz="1800" b="0" i="0" u="none" strike="noStrike" cap="none" normalizeH="0" baseline="0" dirty="0" smtClean="0">
                <a:ln>
                  <a:noFill/>
                </a:ln>
                <a:solidFill>
                  <a:srgbClr val="FF0000"/>
                </a:solidFill>
                <a:effectLst/>
                <a:latin typeface="Arial" charset="0"/>
                <a:cs typeface="Arial" charset="0"/>
              </a:rPr>
              <a:t> to recognize animals</a:t>
            </a:r>
          </a:p>
        </p:txBody>
      </p:sp>
    </p:spTree>
    <p:extLst>
      <p:ext uri="{BB962C8B-B14F-4D97-AF65-F5344CB8AC3E}">
        <p14:creationId xmlns:p14="http://schemas.microsoft.com/office/powerpoint/2010/main" val="1704406413"/>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28800" y="1295400"/>
            <a:ext cx="5907771" cy="3970318"/>
          </a:xfrm>
          <a:prstGeom prst="rect">
            <a:avLst/>
          </a:prstGeom>
        </p:spPr>
        <p:txBody>
          <a:bodyPr wrap="none">
            <a:spAutoFit/>
          </a:bodyPr>
          <a:lstStyle/>
          <a:p>
            <a:r>
              <a:rPr lang="en-IN" sz="2400" b="1" dirty="0" smtClean="0"/>
              <a:t>                   </a:t>
            </a:r>
            <a:r>
              <a:rPr lang="en-IN" sz="3200" b="1" dirty="0" smtClean="0">
                <a:solidFill>
                  <a:srgbClr val="00B0F0"/>
                </a:solidFill>
              </a:rPr>
              <a:t>Technologies Used</a:t>
            </a:r>
          </a:p>
          <a:p>
            <a:endParaRPr lang="en-US" sz="2400" b="1" dirty="0"/>
          </a:p>
          <a:p>
            <a:endParaRPr lang="en-US" sz="2400" b="1" dirty="0" smtClean="0"/>
          </a:p>
          <a:p>
            <a:endParaRPr lang="en-IN" sz="2400" b="1" dirty="0" smtClean="0"/>
          </a:p>
          <a:p>
            <a:r>
              <a:rPr lang="en-IN" sz="2800" dirty="0" err="1" smtClean="0"/>
              <a:t>Image:Uplode</a:t>
            </a:r>
            <a:r>
              <a:rPr lang="en-IN" sz="2800" dirty="0" smtClean="0"/>
              <a:t> a clear image </a:t>
            </a:r>
            <a:r>
              <a:rPr lang="en-IN" dirty="0" smtClean="0"/>
              <a:t>.</a:t>
            </a:r>
            <a:endParaRPr lang="en-IN" dirty="0"/>
          </a:p>
          <a:p>
            <a:r>
              <a:rPr lang="en-IN" sz="2400" b="1" dirty="0"/>
              <a:t>Web Browser</a:t>
            </a:r>
            <a:r>
              <a:rPr lang="en-IN" sz="2400" dirty="0"/>
              <a:t>: User interface.</a:t>
            </a:r>
          </a:p>
          <a:p>
            <a:r>
              <a:rPr lang="en-IN" sz="2400" b="1" dirty="0"/>
              <a:t>Machine Learning Model</a:t>
            </a:r>
            <a:r>
              <a:rPr lang="en-IN" sz="2400" dirty="0"/>
              <a:t>: Detects animals.</a:t>
            </a:r>
          </a:p>
          <a:p>
            <a:r>
              <a:rPr lang="en-IN" sz="2400" b="1" dirty="0"/>
              <a:t>Python/JavaScript</a:t>
            </a:r>
            <a:r>
              <a:rPr lang="en-IN" sz="2400" dirty="0"/>
              <a:t>: Programming languages.</a:t>
            </a:r>
          </a:p>
          <a:p>
            <a:r>
              <a:rPr lang="en-IN" sz="2400" b="1" dirty="0"/>
              <a:t>Flask / </a:t>
            </a:r>
            <a:r>
              <a:rPr lang="en-IN" sz="2400" b="1" dirty="0" err="1"/>
              <a:t>Django</a:t>
            </a:r>
            <a:r>
              <a:rPr lang="en-IN" sz="2400" dirty="0"/>
              <a:t>: Web frameworks.</a:t>
            </a:r>
          </a:p>
          <a:p>
            <a:endParaRPr lang="en-IN" sz="2400" b="1" dirty="0"/>
          </a:p>
        </p:txBody>
      </p:sp>
      <p:cxnSp>
        <p:nvCxnSpPr>
          <p:cNvPr id="6" name="Straight Connector 5"/>
          <p:cNvCxnSpPr/>
          <p:nvPr/>
        </p:nvCxnSpPr>
        <p:spPr>
          <a:xfrm>
            <a:off x="1828800" y="2133600"/>
            <a:ext cx="590777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1273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76200"/>
            <a:ext cx="7498080" cy="868680"/>
          </a:xfrm>
        </p:spPr>
        <p:txBody>
          <a:bodyPr/>
          <a:lstStyle/>
          <a:p>
            <a:r>
              <a:rPr lang="en-IN" dirty="0" smtClean="0"/>
              <a:t>Python</a:t>
            </a:r>
            <a:endParaRPr lang="en-IN" dirty="0"/>
          </a:p>
        </p:txBody>
      </p:sp>
      <p:sp>
        <p:nvSpPr>
          <p:cNvPr id="3" name="Content Placeholder 2"/>
          <p:cNvSpPr>
            <a:spLocks noGrp="1"/>
          </p:cNvSpPr>
          <p:nvPr>
            <p:ph sz="half" idx="1"/>
          </p:nvPr>
        </p:nvSpPr>
        <p:spPr>
          <a:xfrm>
            <a:off x="1143000" y="1066800"/>
            <a:ext cx="3950208" cy="5638800"/>
          </a:xfrm>
        </p:spPr>
        <p:txBody>
          <a:bodyPr>
            <a:normAutofit fontScale="32500" lnSpcReduction="20000"/>
          </a:bodyPr>
          <a:lstStyle/>
          <a:p>
            <a:r>
              <a:rPr lang="en-US" sz="5500" b="1" dirty="0"/>
              <a:t>Python</a:t>
            </a:r>
            <a:r>
              <a:rPr lang="en-US" sz="5500" dirty="0"/>
              <a:t> – Main programming language used.</a:t>
            </a:r>
          </a:p>
          <a:p>
            <a:r>
              <a:rPr lang="en-US" sz="5500" b="1" dirty="0"/>
              <a:t>Libraries Used</a:t>
            </a:r>
            <a:r>
              <a:rPr lang="en-US" sz="5500" dirty="0"/>
              <a:t>:</a:t>
            </a:r>
          </a:p>
          <a:p>
            <a:pPr lvl="1"/>
            <a:r>
              <a:rPr lang="en-US" sz="5500" b="1" dirty="0" err="1"/>
              <a:t>OpenCV</a:t>
            </a:r>
            <a:r>
              <a:rPr lang="en-US" sz="5500" dirty="0"/>
              <a:t> – For image and video processing.</a:t>
            </a:r>
          </a:p>
          <a:p>
            <a:pPr lvl="1"/>
            <a:r>
              <a:rPr lang="en-US" sz="5500" b="1" dirty="0" err="1"/>
              <a:t>TensorFlow</a:t>
            </a:r>
            <a:r>
              <a:rPr lang="en-US" sz="5500" b="1" dirty="0"/>
              <a:t> / </a:t>
            </a:r>
            <a:r>
              <a:rPr lang="en-US" sz="5500" b="1" dirty="0" err="1"/>
              <a:t>PyTorch</a:t>
            </a:r>
            <a:r>
              <a:rPr lang="en-US" sz="5500" dirty="0"/>
              <a:t> – For training and running AI models.</a:t>
            </a:r>
          </a:p>
          <a:p>
            <a:pPr lvl="1"/>
            <a:r>
              <a:rPr lang="en-US" sz="5500" b="1" dirty="0"/>
              <a:t>Flask / </a:t>
            </a:r>
            <a:r>
              <a:rPr lang="en-US" sz="5500" b="1" dirty="0" err="1"/>
              <a:t>Django</a:t>
            </a:r>
            <a:r>
              <a:rPr lang="en-US" sz="5500" dirty="0"/>
              <a:t> – For building the web application.</a:t>
            </a:r>
          </a:p>
          <a:p>
            <a:r>
              <a:rPr lang="en-US" sz="5500" b="1" dirty="0"/>
              <a:t>Machine Learning</a:t>
            </a:r>
            <a:r>
              <a:rPr lang="en-US" sz="5500" dirty="0"/>
              <a:t> – Used to train the system to detect different animals.</a:t>
            </a:r>
          </a:p>
          <a:p>
            <a:r>
              <a:rPr lang="en-US" sz="5500" b="1" dirty="0"/>
              <a:t>Image Classification</a:t>
            </a:r>
            <a:r>
              <a:rPr lang="en-US" sz="5500" dirty="0"/>
              <a:t> – Python helps recognize animals in photos or video.</a:t>
            </a:r>
          </a:p>
          <a:p>
            <a:r>
              <a:rPr lang="en-US" sz="5500" b="1" dirty="0"/>
              <a:t>Automation</a:t>
            </a:r>
            <a:r>
              <a:rPr lang="en-US" sz="5500" dirty="0"/>
              <a:t> – Python scripts run the detection and send alerts.</a:t>
            </a:r>
          </a:p>
          <a:p>
            <a:r>
              <a:rPr lang="en-US" sz="5500" b="1" dirty="0"/>
              <a:t>Integration</a:t>
            </a:r>
            <a:r>
              <a:rPr lang="en-US" sz="5500" dirty="0"/>
              <a:t> – Easily connects to web front-end and databases.</a:t>
            </a:r>
          </a:p>
          <a:p>
            <a:endParaRPr lang="en-IN" dirty="0"/>
          </a:p>
        </p:txBody>
      </p:sp>
      <p:pic>
        <p:nvPicPr>
          <p:cNvPr id="5122"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276850" y="1143000"/>
            <a:ext cx="379095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12774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3394" y="1106210"/>
            <a:ext cx="1716316" cy="1200329"/>
          </a:xfrm>
          <a:prstGeom prst="rect">
            <a:avLst/>
          </a:prstGeom>
        </p:spPr>
      </p:pic>
      <p:sp>
        <p:nvSpPr>
          <p:cNvPr id="3" name="Rectangle 2"/>
          <p:cNvSpPr/>
          <p:nvPr/>
        </p:nvSpPr>
        <p:spPr>
          <a:xfrm>
            <a:off x="132941" y="1098411"/>
            <a:ext cx="7391400" cy="1200329"/>
          </a:xfrm>
          <a:prstGeom prst="rect">
            <a:avLst/>
          </a:prstGeom>
          <a:solidFill>
            <a:schemeClr val="accent5">
              <a:lumMod val="20000"/>
              <a:lumOff val="80000"/>
            </a:schemeClr>
          </a:solidFill>
        </p:spPr>
        <p:txBody>
          <a:bodyPr wrap="square">
            <a:spAutoFit/>
          </a:bodyPr>
          <a:lstStyle/>
          <a:p>
            <a:r>
              <a:rPr lang="en-US" b="1" dirty="0"/>
              <a:t>HTML (</a:t>
            </a:r>
            <a:r>
              <a:rPr lang="en-US" b="1" dirty="0" err="1"/>
              <a:t>HyperText</a:t>
            </a:r>
            <a:r>
              <a:rPr lang="en-US" b="1" dirty="0"/>
              <a:t> Markup Language)</a:t>
            </a:r>
            <a:endParaRPr lang="en-US" dirty="0"/>
          </a:p>
          <a:p>
            <a:r>
              <a:rPr lang="en-US" dirty="0"/>
              <a:t>Builds the </a:t>
            </a:r>
            <a:r>
              <a:rPr lang="en-US" b="1" dirty="0"/>
              <a:t>structure</a:t>
            </a:r>
            <a:r>
              <a:rPr lang="en-US" dirty="0"/>
              <a:t> of the website.</a:t>
            </a:r>
          </a:p>
          <a:p>
            <a:r>
              <a:rPr lang="en-US" dirty="0"/>
              <a:t>Creates pages to </a:t>
            </a:r>
            <a:r>
              <a:rPr lang="en-US" b="1" dirty="0"/>
              <a:t>upload images</a:t>
            </a:r>
            <a:r>
              <a:rPr lang="en-US" dirty="0"/>
              <a:t> or </a:t>
            </a:r>
            <a:r>
              <a:rPr lang="en-US" b="1" dirty="0"/>
              <a:t>show results</a:t>
            </a:r>
            <a:r>
              <a:rPr lang="en-US" dirty="0"/>
              <a:t>.</a:t>
            </a:r>
          </a:p>
          <a:p>
            <a:endParaRPr lang="en-IN" dirty="0">
              <a:solidFill>
                <a:srgbClr val="FF0000"/>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801" y="2924175"/>
            <a:ext cx="1585913" cy="1295400"/>
          </a:xfrm>
          <a:prstGeom prst="rect">
            <a:avLst/>
          </a:prstGeom>
        </p:spPr>
      </p:pic>
      <p:sp>
        <p:nvSpPr>
          <p:cNvPr id="7" name="Rectangle 6"/>
          <p:cNvSpPr/>
          <p:nvPr/>
        </p:nvSpPr>
        <p:spPr>
          <a:xfrm>
            <a:off x="1828800" y="2924175"/>
            <a:ext cx="7315200" cy="1323439"/>
          </a:xfrm>
          <a:prstGeom prst="rect">
            <a:avLst/>
          </a:prstGeom>
          <a:solidFill>
            <a:schemeClr val="bg2">
              <a:lumMod val="10000"/>
              <a:lumOff val="90000"/>
            </a:schemeClr>
          </a:solidFill>
        </p:spPr>
        <p:txBody>
          <a:bodyPr wrap="square">
            <a:spAutoFit/>
          </a:bodyPr>
          <a:lstStyle/>
          <a:p>
            <a:r>
              <a:rPr lang="en-US" sz="2000" b="1" dirty="0"/>
              <a:t>CSS (Cascading Style Sheets)</a:t>
            </a:r>
            <a:endParaRPr lang="en-US" sz="2000" dirty="0"/>
          </a:p>
          <a:p>
            <a:r>
              <a:rPr lang="en-US" sz="2000" dirty="0"/>
              <a:t>Adds </a:t>
            </a:r>
            <a:r>
              <a:rPr lang="en-US" sz="2000" b="1" dirty="0"/>
              <a:t>style and layout</a:t>
            </a:r>
            <a:r>
              <a:rPr lang="en-US" sz="2000" dirty="0"/>
              <a:t> to the web pages.</a:t>
            </a:r>
          </a:p>
          <a:p>
            <a:r>
              <a:rPr lang="en-US" sz="2000" dirty="0"/>
              <a:t>Makes the interface </a:t>
            </a:r>
            <a:r>
              <a:rPr lang="en-US" sz="2000" b="1" dirty="0"/>
              <a:t>clean, responsive, and user-friendly</a:t>
            </a:r>
            <a:endParaRPr lang="en-US" sz="2000" dirty="0"/>
          </a:p>
          <a:p>
            <a:endParaRPr lang="en-IN" sz="2000" dirty="0">
              <a:solidFill>
                <a:srgbClr val="00B0F0"/>
              </a:solidFill>
            </a:endParaRPr>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42044" y="4648199"/>
            <a:ext cx="1492578" cy="1371600"/>
          </a:xfrm>
          <a:prstGeom prst="rect">
            <a:avLst/>
          </a:prstGeom>
        </p:spPr>
      </p:pic>
      <p:sp>
        <p:nvSpPr>
          <p:cNvPr id="9" name="Rectangle 8"/>
          <p:cNvSpPr/>
          <p:nvPr/>
        </p:nvSpPr>
        <p:spPr>
          <a:xfrm>
            <a:off x="226784" y="4648199"/>
            <a:ext cx="7162800" cy="1631216"/>
          </a:xfrm>
          <a:prstGeom prst="rect">
            <a:avLst/>
          </a:prstGeom>
          <a:solidFill>
            <a:schemeClr val="accent6">
              <a:lumMod val="60000"/>
              <a:lumOff val="40000"/>
            </a:schemeClr>
          </a:solidFill>
        </p:spPr>
        <p:txBody>
          <a:bodyPr wrap="square">
            <a:spAutoFit/>
          </a:bodyPr>
          <a:lstStyle/>
          <a:p>
            <a:r>
              <a:rPr lang="en-US" sz="2000" b="1" dirty="0"/>
              <a:t>JavaScript</a:t>
            </a:r>
            <a:endParaRPr lang="en-US" sz="2000" dirty="0"/>
          </a:p>
          <a:p>
            <a:r>
              <a:rPr lang="en-US" sz="2000" dirty="0"/>
              <a:t>Adds </a:t>
            </a:r>
            <a:r>
              <a:rPr lang="en-US" sz="2000" b="1" dirty="0"/>
              <a:t>interactivity</a:t>
            </a:r>
            <a:r>
              <a:rPr lang="en-US" sz="2000" dirty="0"/>
              <a:t> (like live updates or alert messages).</a:t>
            </a:r>
          </a:p>
          <a:p>
            <a:r>
              <a:rPr lang="en-US" sz="2000" dirty="0"/>
              <a:t>Sends and receives data from the </a:t>
            </a:r>
            <a:r>
              <a:rPr lang="en-US" sz="2000" b="1" dirty="0"/>
              <a:t>Python backend</a:t>
            </a:r>
            <a:r>
              <a:rPr lang="en-US" sz="2000" dirty="0"/>
              <a:t>.</a:t>
            </a:r>
          </a:p>
          <a:p>
            <a:r>
              <a:rPr lang="en-US" sz="2000" dirty="0"/>
              <a:t>Displays detection results </a:t>
            </a:r>
            <a:r>
              <a:rPr lang="en-US" sz="2000" b="1" dirty="0"/>
              <a:t>without refreshing</a:t>
            </a:r>
            <a:r>
              <a:rPr lang="en-US" sz="2000" dirty="0"/>
              <a:t> the page.</a:t>
            </a:r>
          </a:p>
          <a:p>
            <a:endParaRPr lang="en-US" sz="2000" dirty="0">
              <a:solidFill>
                <a:schemeClr val="accent6">
                  <a:lumMod val="50000"/>
                </a:schemeClr>
              </a:solidFill>
            </a:endParaRPr>
          </a:p>
        </p:txBody>
      </p:sp>
      <p:sp>
        <p:nvSpPr>
          <p:cNvPr id="10" name="Rectangle 9"/>
          <p:cNvSpPr/>
          <p:nvPr/>
        </p:nvSpPr>
        <p:spPr>
          <a:xfrm>
            <a:off x="10886" y="152400"/>
            <a:ext cx="9160464" cy="923330"/>
          </a:xfrm>
          <a:prstGeom prst="rect">
            <a:avLst/>
          </a:prstGeom>
          <a:solidFill>
            <a:schemeClr val="accent3">
              <a:lumMod val="60000"/>
              <a:lumOff val="40000"/>
            </a:schemeClr>
          </a:solidFill>
        </p:spPr>
        <p:txBody>
          <a:bodyPr wrap="square">
            <a:spAutoFit/>
          </a:bodyPr>
          <a:lstStyle/>
          <a:p>
            <a:pPr algn="ctr"/>
            <a:r>
              <a:rPr lang="en-IN" sz="5400" b="1" i="1" dirty="0" smtClean="0">
                <a:solidFill>
                  <a:srgbClr val="7030A0"/>
                </a:solidFill>
              </a:rPr>
              <a:t>Technology</a:t>
            </a:r>
            <a:endParaRPr lang="en-IN" sz="5400" b="1" i="1" dirty="0">
              <a:solidFill>
                <a:srgbClr val="7030A0"/>
              </a:solidFill>
            </a:endParaRPr>
          </a:p>
        </p:txBody>
      </p:sp>
    </p:spTree>
    <p:extLst>
      <p:ext uri="{BB962C8B-B14F-4D97-AF65-F5344CB8AC3E}">
        <p14:creationId xmlns:p14="http://schemas.microsoft.com/office/powerpoint/2010/main" val="36503641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66800" y="1828800"/>
            <a:ext cx="7924800" cy="3170099"/>
          </a:xfrm>
          <a:prstGeom prst="rect">
            <a:avLst/>
          </a:prstGeom>
          <a:solidFill>
            <a:srgbClr val="00B0F0"/>
          </a:solidFill>
        </p:spPr>
        <p:txBody>
          <a:bodyPr wrap="square">
            <a:spAutoFit/>
          </a:bodyPr>
          <a:lstStyle/>
          <a:p>
            <a:pPr marL="457200" indent="-457200">
              <a:buAutoNum type="arabicPeriod"/>
            </a:pPr>
            <a:r>
              <a:rPr lang="en-US" sz="2000" b="1" dirty="0" smtClean="0"/>
              <a:t>Image </a:t>
            </a:r>
            <a:r>
              <a:rPr lang="en-US" sz="2000" b="1" dirty="0"/>
              <a:t>or Video Input: The system accepts images or videos as input, which can be obtained from various sources such as camera traps, drones, or smartphones</a:t>
            </a:r>
            <a:r>
              <a:rPr lang="en-US" sz="2000" b="1" dirty="0" smtClean="0"/>
              <a:t>.</a:t>
            </a:r>
          </a:p>
          <a:p>
            <a:pPr marL="457200" indent="-457200">
              <a:buAutoNum type="arabicPeriod"/>
            </a:pPr>
            <a:r>
              <a:rPr lang="en-US" sz="2000" b="1" dirty="0" smtClean="0"/>
              <a:t>2</a:t>
            </a:r>
            <a:r>
              <a:rPr lang="en-US" sz="2000" b="1" dirty="0"/>
              <a:t>. Pre-processing: The input data is pre-processed to enhance quality, remove noise, and prepare it for analysis</a:t>
            </a:r>
            <a:r>
              <a:rPr lang="en-US" sz="2000" b="1" dirty="0" smtClean="0"/>
              <a:t>.</a:t>
            </a:r>
          </a:p>
          <a:p>
            <a:pPr marL="457200" indent="-457200">
              <a:buAutoNum type="arabicPeriod"/>
            </a:pPr>
            <a:r>
              <a:rPr lang="en-US" sz="2000" b="1" dirty="0" smtClean="0"/>
              <a:t>3</a:t>
            </a:r>
            <a:r>
              <a:rPr lang="en-US" sz="2000" b="1" dirty="0"/>
              <a:t>. Machine Learning Model: A pre-trained machine learning model, such as </a:t>
            </a:r>
            <a:r>
              <a:rPr lang="en-US" sz="2000" b="1" dirty="0" err="1"/>
              <a:t>MobileNet</a:t>
            </a:r>
            <a:r>
              <a:rPr lang="en-US" sz="2000" b="1" dirty="0"/>
              <a:t>, is used to analyze the input data and identify the animal species</a:t>
            </a:r>
            <a:r>
              <a:rPr lang="en-US" sz="2000" b="1" dirty="0" smtClean="0"/>
              <a:t>.</a:t>
            </a:r>
          </a:p>
          <a:p>
            <a:pPr marL="457200" indent="-457200">
              <a:buAutoNum type="arabicPeriod"/>
            </a:pPr>
            <a:r>
              <a:rPr lang="en-US" sz="2000" b="1" dirty="0" smtClean="0"/>
              <a:t>4</a:t>
            </a:r>
            <a:r>
              <a:rPr lang="en-US" sz="2000" b="1" dirty="0"/>
              <a:t>. Classification: The system classifies the animal species based on the features extracted from the input data.</a:t>
            </a:r>
          </a:p>
        </p:txBody>
      </p:sp>
      <p:sp>
        <p:nvSpPr>
          <p:cNvPr id="4" name="Rectangle 3"/>
          <p:cNvSpPr/>
          <p:nvPr/>
        </p:nvSpPr>
        <p:spPr>
          <a:xfrm>
            <a:off x="1066800" y="781050"/>
            <a:ext cx="4495800" cy="584775"/>
          </a:xfrm>
          <a:prstGeom prst="rect">
            <a:avLst/>
          </a:prstGeom>
        </p:spPr>
        <p:txBody>
          <a:bodyPr wrap="square">
            <a:spAutoFit/>
          </a:bodyPr>
          <a:lstStyle/>
          <a:p>
            <a:pPr algn="ctr"/>
            <a:r>
              <a:rPr lang="en-US" sz="3200" b="1" dirty="0">
                <a:solidFill>
                  <a:srgbClr val="FFC000"/>
                </a:solidFill>
              </a:rPr>
              <a:t>How Does It Work</a:t>
            </a:r>
            <a:endParaRPr lang="en-IN" sz="3200" dirty="0">
              <a:solidFill>
                <a:srgbClr val="FFC000"/>
              </a:solidFill>
            </a:endParaRPr>
          </a:p>
        </p:txBody>
      </p:sp>
    </p:spTree>
    <p:extLst>
      <p:ext uri="{BB962C8B-B14F-4D97-AF65-F5344CB8AC3E}">
        <p14:creationId xmlns:p14="http://schemas.microsoft.com/office/powerpoint/2010/main" val="15901786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normAutofit/>
          </a:bodyPr>
          <a:lstStyle/>
          <a:p>
            <a:r>
              <a:rPr lang="en-IN" sz="7200" dirty="0" smtClean="0">
                <a:solidFill>
                  <a:srgbClr val="FF0000"/>
                </a:solidFill>
              </a:rPr>
              <a:t>Benefits</a:t>
            </a:r>
            <a:endParaRPr lang="en-IN" sz="7200" dirty="0">
              <a:solidFill>
                <a:srgbClr val="FF0000"/>
              </a:solidFill>
            </a:endParaRPr>
          </a:p>
        </p:txBody>
      </p:sp>
      <p:sp>
        <p:nvSpPr>
          <p:cNvPr id="2" name="Subtitle 1"/>
          <p:cNvSpPr>
            <a:spLocks noGrp="1"/>
          </p:cNvSpPr>
          <p:nvPr>
            <p:ph type="subTitle" idx="1"/>
          </p:nvPr>
        </p:nvSpPr>
        <p:spPr>
          <a:xfrm>
            <a:off x="228600" y="2667000"/>
            <a:ext cx="8763000" cy="3581400"/>
          </a:xfrm>
        </p:spPr>
        <p:txBody>
          <a:bodyPr>
            <a:normAutofit/>
          </a:bodyPr>
          <a:lstStyle/>
          <a:p>
            <a:pPr marL="342900" indent="-342900">
              <a:buAutoNum type="arabicPeriod"/>
            </a:pPr>
            <a:r>
              <a:rPr lang="en-US" dirty="0" smtClean="0"/>
              <a:t>Accurate </a:t>
            </a:r>
            <a:r>
              <a:rPr lang="en-US" dirty="0"/>
              <a:t>Identification: The system provides accurate identification of animal species, reducing the risk of human error</a:t>
            </a:r>
            <a:r>
              <a:rPr lang="en-US" dirty="0" smtClean="0"/>
              <a:t>.</a:t>
            </a:r>
          </a:p>
          <a:p>
            <a:pPr marL="342900" indent="-342900">
              <a:buAutoNum type="arabicPeriod"/>
            </a:pPr>
            <a:r>
              <a:rPr lang="en-US" dirty="0" smtClean="0"/>
              <a:t>2</a:t>
            </a:r>
            <a:r>
              <a:rPr lang="en-US" dirty="0"/>
              <a:t>. Efficient Analysis: The system can analyze large datasets quickly and efficiently, saving time and resources</a:t>
            </a:r>
            <a:r>
              <a:rPr lang="en-US" dirty="0" smtClean="0"/>
              <a:t>.</a:t>
            </a:r>
          </a:p>
          <a:p>
            <a:pPr marL="342900" indent="-342900">
              <a:buAutoNum type="arabicPeriod"/>
            </a:pPr>
            <a:r>
              <a:rPr lang="en-US" dirty="0" smtClean="0"/>
              <a:t>3</a:t>
            </a:r>
            <a:r>
              <a:rPr lang="en-US" dirty="0"/>
              <a:t>. Conservation Efforts: The system can aid conservation efforts by monitoring animal populations, tracking species distribution, and identifying areas of high conservation value.</a:t>
            </a:r>
            <a:endParaRPr lang="en-IN" dirty="0"/>
          </a:p>
        </p:txBody>
      </p:sp>
    </p:spTree>
    <p:extLst>
      <p:ext uri="{BB962C8B-B14F-4D97-AF65-F5344CB8AC3E}">
        <p14:creationId xmlns:p14="http://schemas.microsoft.com/office/powerpoint/2010/main" val="38081920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15240"/>
            <a:ext cx="6400800" cy="2286000"/>
          </a:xfrm>
        </p:spPr>
        <p:txBody>
          <a:bodyPr/>
          <a:lstStyle/>
          <a:p>
            <a:r>
              <a:rPr lang="en-IN" dirty="0"/>
              <a:t>Potential Applications:</a:t>
            </a:r>
          </a:p>
        </p:txBody>
      </p:sp>
      <p:sp>
        <p:nvSpPr>
          <p:cNvPr id="3" name="Text Placeholder 2"/>
          <p:cNvSpPr>
            <a:spLocks noGrp="1"/>
          </p:cNvSpPr>
          <p:nvPr>
            <p:ph type="body" idx="1"/>
          </p:nvPr>
        </p:nvSpPr>
        <p:spPr>
          <a:xfrm>
            <a:off x="2362200" y="2286000"/>
            <a:ext cx="6629400" cy="2971800"/>
          </a:xfrm>
        </p:spPr>
        <p:txBody>
          <a:bodyPr>
            <a:noAutofit/>
          </a:bodyPr>
          <a:lstStyle/>
          <a:p>
            <a:r>
              <a:rPr lang="en-US" sz="2400" dirty="0"/>
              <a:t>1. Wildlife Conservation: Monitoring animal populations, tracking species distribution, and identifying areas of high conservation value.2. Research: Analyzing camera trap images, studying animal behavior, and gaining insights into ecosystem dynamics.3. Education: Teaching students about different animal species and promoting awareness about wildlife conservation.</a:t>
            </a:r>
            <a:endParaRPr lang="en-IN" sz="2400" dirty="0"/>
          </a:p>
        </p:txBody>
      </p:sp>
    </p:spTree>
    <p:extLst>
      <p:ext uri="{BB962C8B-B14F-4D97-AF65-F5344CB8AC3E}">
        <p14:creationId xmlns:p14="http://schemas.microsoft.com/office/powerpoint/2010/main" val="29342323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subTitle" idx="1"/>
          </p:nvPr>
        </p:nvSpPr>
        <p:spPr>
          <a:xfrm>
            <a:off x="228600" y="2514600"/>
            <a:ext cx="8610600" cy="3810000"/>
          </a:xfrm>
        </p:spPr>
        <p:txBody>
          <a:bodyPr>
            <a:normAutofit lnSpcReduction="10000"/>
          </a:bodyPr>
          <a:lstStyle/>
          <a:p>
            <a:pPr algn="l"/>
            <a:endParaRPr lang="en-US" b="1" dirty="0"/>
          </a:p>
          <a:p>
            <a:r>
              <a:rPr lang="en-US" dirty="0" smtClean="0">
                <a:solidFill>
                  <a:schemeClr val="tx1"/>
                </a:solidFill>
              </a:rPr>
              <a:t>Real-Time </a:t>
            </a:r>
            <a:r>
              <a:rPr lang="en-US" dirty="0">
                <a:solidFill>
                  <a:schemeClr val="tx1"/>
                </a:solidFill>
              </a:rPr>
              <a:t>Detection – Instantly finds animals using live video.</a:t>
            </a:r>
          </a:p>
          <a:p>
            <a:r>
              <a:rPr lang="en-US" dirty="0">
                <a:solidFill>
                  <a:schemeClr val="tx1"/>
                </a:solidFill>
              </a:rPr>
              <a:t>Remote Access – Works from anywhere through a web browser.</a:t>
            </a:r>
          </a:p>
          <a:p>
            <a:r>
              <a:rPr lang="en-US" dirty="0">
                <a:solidFill>
                  <a:schemeClr val="tx1"/>
                </a:solidFill>
              </a:rPr>
              <a:t>Automation – No need for manual monitoring.</a:t>
            </a:r>
          </a:p>
          <a:p>
            <a:r>
              <a:rPr lang="en-US" dirty="0">
                <a:solidFill>
                  <a:schemeClr val="tx1"/>
                </a:solidFill>
              </a:rPr>
              <a:t>Safety – Helps avoid animal-human accidents.</a:t>
            </a:r>
          </a:p>
          <a:p>
            <a:r>
              <a:rPr lang="en-US" dirty="0">
                <a:solidFill>
                  <a:schemeClr val="tx1"/>
                </a:solidFill>
              </a:rPr>
              <a:t>Scalability – Can be used in forests, farms, or cities.</a:t>
            </a:r>
          </a:p>
          <a:p>
            <a:r>
              <a:rPr lang="en-US" dirty="0">
                <a:solidFill>
                  <a:schemeClr val="tx1"/>
                </a:solidFill>
              </a:rPr>
              <a:t>Data Logging – Stores images and results for future analysis.</a:t>
            </a:r>
          </a:p>
          <a:p>
            <a:r>
              <a:rPr lang="en-US" dirty="0">
                <a:solidFill>
                  <a:schemeClr val="tx1"/>
                </a:solidFill>
              </a:rPr>
              <a:t>Eco-Friendly – Non-invasive monitoring of wildlife.</a:t>
            </a:r>
          </a:p>
          <a:p>
            <a:pPr algn="l"/>
            <a:endParaRPr lang="en-US" dirty="0"/>
          </a:p>
          <a:p>
            <a:endParaRPr lang="en-IN" dirty="0"/>
          </a:p>
        </p:txBody>
      </p:sp>
      <p:sp>
        <p:nvSpPr>
          <p:cNvPr id="6" name="Rectangle 5"/>
          <p:cNvSpPr/>
          <p:nvPr/>
        </p:nvSpPr>
        <p:spPr>
          <a:xfrm>
            <a:off x="2743200" y="829806"/>
            <a:ext cx="3227165" cy="707886"/>
          </a:xfrm>
          <a:prstGeom prst="rect">
            <a:avLst/>
          </a:prstGeom>
        </p:spPr>
        <p:txBody>
          <a:bodyPr wrap="none">
            <a:spAutoFit/>
          </a:bodyPr>
          <a:lstStyle/>
          <a:p>
            <a:pPr algn="ctr"/>
            <a:r>
              <a:rPr lang="en-US" sz="4000" b="1" dirty="0"/>
              <a:t>Advantages</a:t>
            </a:r>
            <a:endParaRPr lang="en-US" sz="4000" b="1" dirty="0"/>
          </a:p>
        </p:txBody>
      </p:sp>
    </p:spTree>
    <p:extLst>
      <p:ext uri="{BB962C8B-B14F-4D97-AF65-F5344CB8AC3E}">
        <p14:creationId xmlns:p14="http://schemas.microsoft.com/office/powerpoint/2010/main" val="32352824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Future </a:t>
            </a:r>
            <a:r>
              <a:rPr lang="en-IN" dirty="0" smtClean="0"/>
              <a:t>Directions</a:t>
            </a:r>
            <a:endParaRPr lang="en-IN" dirty="0"/>
          </a:p>
        </p:txBody>
      </p:sp>
      <p:sp>
        <p:nvSpPr>
          <p:cNvPr id="3" name="Subtitle 2"/>
          <p:cNvSpPr>
            <a:spLocks noGrp="1"/>
          </p:cNvSpPr>
          <p:nvPr>
            <p:ph type="subTitle" idx="1"/>
          </p:nvPr>
        </p:nvSpPr>
        <p:spPr>
          <a:xfrm>
            <a:off x="1219200" y="2057400"/>
            <a:ext cx="7406640" cy="2721936"/>
          </a:xfrm>
        </p:spPr>
        <p:txBody>
          <a:bodyPr>
            <a:normAutofit/>
          </a:bodyPr>
          <a:lstStyle/>
          <a:p>
            <a:r>
              <a:rPr lang="en-US" dirty="0"/>
              <a:t>1. Object Detection: Integrating object detection capabilities to identify multiple animals in a single image or video.2. Species Classification: Expanding the system to recognize more animal species and provide detailed information about each species.</a:t>
            </a:r>
            <a:endParaRPr lang="en-IN" dirty="0"/>
          </a:p>
        </p:txBody>
      </p:sp>
    </p:spTree>
    <p:extLst>
      <p:ext uri="{BB962C8B-B14F-4D97-AF65-F5344CB8AC3E}">
        <p14:creationId xmlns:p14="http://schemas.microsoft.com/office/powerpoint/2010/main" val="36917091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UI of the project with result</a:t>
            </a:r>
            <a:endParaRPr lang="en-IN" b="1" dirty="0"/>
          </a:p>
        </p:txBody>
      </p:sp>
      <p:pic>
        <p:nvPicPr>
          <p:cNvPr id="4101" name="Picture 5"/>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4724400" y="1447800"/>
            <a:ext cx="41148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15900" y="1447800"/>
            <a:ext cx="42037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AutoShape 2" descr="C:\Users\Dell\AppData\Local\Microsoft\Windows\INetCache\IE\4Q8DOHLY\Screenshot_2025-05-25_141802[1].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C:\Users\Dell\AppData\Local\Microsoft\Windows\INetCache\IE\4Q8DOHLY\Screenshot_2025-05-25_141802[1].png"/>
          <p:cNvSpPr>
            <a:spLocks noChangeAspect="1" noChangeArrowheads="1"/>
          </p:cNvSpPr>
          <p:nvPr/>
        </p:nvSpPr>
        <p:spPr bwMode="auto">
          <a:xfrm>
            <a:off x="215900" y="158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1798208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icture Placeholder 11"/>
          <p:cNvSpPr>
            <a:spLocks noGrp="1"/>
          </p:cNvSpPr>
          <p:nvPr>
            <p:ph type="pic" idx="1"/>
          </p:nvPr>
        </p:nvSpPr>
        <p:spPr>
          <a:xfrm>
            <a:off x="3048000" y="1981200"/>
            <a:ext cx="5867400" cy="3048000"/>
          </a:xfrm>
        </p:spPr>
      </p:sp>
      <p:sp>
        <p:nvSpPr>
          <p:cNvPr id="2" name="Text Placeholder 1"/>
          <p:cNvSpPr>
            <a:spLocks noGrp="1"/>
          </p:cNvSpPr>
          <p:nvPr>
            <p:ph type="body" sz="half" idx="2"/>
          </p:nvPr>
        </p:nvSpPr>
        <p:spPr>
          <a:xfrm>
            <a:off x="381000" y="990600"/>
            <a:ext cx="2514600" cy="5257800"/>
          </a:xfrm>
        </p:spPr>
        <p:txBody>
          <a:bodyPr>
            <a:normAutofit/>
          </a:bodyPr>
          <a:lstStyle/>
          <a:p>
            <a:r>
              <a:rPr lang="en-US" sz="1800" b="1" dirty="0"/>
              <a:t>Web-based animal detection systems are helpful tools.</a:t>
            </a:r>
          </a:p>
          <a:p>
            <a:r>
              <a:rPr lang="en-US" sz="1800" b="1" dirty="0"/>
              <a:t>They combine AI and the internet to solve real-world problems.</a:t>
            </a:r>
          </a:p>
          <a:p>
            <a:r>
              <a:rPr lang="en-US" sz="1800" b="1" dirty="0"/>
              <a:t>Can be used in many useful ways to protect animals</a:t>
            </a:r>
            <a:r>
              <a:rPr lang="en-US" sz="1800" b="1" dirty="0" smtClean="0"/>
              <a:t>.</a:t>
            </a:r>
          </a:p>
          <a:p>
            <a:r>
              <a:rPr lang="en-US" sz="1800" dirty="0" smtClean="0"/>
              <a:t>Smart </a:t>
            </a:r>
            <a:r>
              <a:rPr lang="en-US" sz="1800" dirty="0"/>
              <a:t>Systems</a:t>
            </a:r>
          </a:p>
          <a:p>
            <a:r>
              <a:rPr lang="en-US" sz="1800" dirty="0"/>
              <a:t>Animal Detection</a:t>
            </a:r>
          </a:p>
          <a:p>
            <a:r>
              <a:rPr lang="en-US" sz="1800" dirty="0"/>
              <a:t>Web-Based Monitoring</a:t>
            </a:r>
          </a:p>
          <a:p>
            <a:endParaRPr lang="en-US" sz="1800" dirty="0"/>
          </a:p>
          <a:p>
            <a:endParaRPr lang="en-US" sz="1800" b="1" dirty="0"/>
          </a:p>
          <a:p>
            <a:endParaRPr lang="en-IN" dirty="0"/>
          </a:p>
        </p:txBody>
      </p:sp>
      <p:pic>
        <p:nvPicPr>
          <p:cNvPr id="3074" name="Picture 2" descr="4+ Thousand Conclusion Presentation Royalty-Free Images, Stock Photos &amp;  Pictures | Shutter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295400"/>
            <a:ext cx="5791200" cy="35814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p:nvSpPr>
        <p:spPr>
          <a:xfrm>
            <a:off x="3116580" y="5105400"/>
            <a:ext cx="5791200" cy="923330"/>
          </a:xfrm>
          <a:prstGeom prst="rect">
            <a:avLst/>
          </a:prstGeom>
        </p:spPr>
        <p:txBody>
          <a:bodyPr wrap="square">
            <a:spAutoFit/>
          </a:bodyPr>
          <a:lstStyle/>
          <a:p>
            <a:r>
              <a:rPr lang="en-US" dirty="0"/>
              <a:t>Summary of findings, implications of the project, and suggestions for future work, including potential improvements and expansions of the system</a:t>
            </a:r>
            <a:endParaRPr lang="en-IN" dirty="0"/>
          </a:p>
        </p:txBody>
      </p:sp>
    </p:spTree>
    <p:extLst>
      <p:ext uri="{BB962C8B-B14F-4D97-AF65-F5344CB8AC3E}">
        <p14:creationId xmlns:p14="http://schemas.microsoft.com/office/powerpoint/2010/main" val="22042902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b="1" dirty="0"/>
              <a:t>REFERENCE</a:t>
            </a:r>
            <a:r>
              <a:rPr lang="en-IN" sz="4400" b="1" dirty="0"/>
              <a:t/>
            </a:r>
            <a:br>
              <a:rPr lang="en-IN" sz="4400" b="1" dirty="0"/>
            </a:br>
            <a:endParaRPr lang="en-IN" dirty="0"/>
          </a:p>
        </p:txBody>
      </p:sp>
      <p:sp>
        <p:nvSpPr>
          <p:cNvPr id="3" name="Content Placeholder 2"/>
          <p:cNvSpPr>
            <a:spLocks noGrp="1"/>
          </p:cNvSpPr>
          <p:nvPr>
            <p:ph sz="half" idx="1"/>
          </p:nvPr>
        </p:nvSpPr>
        <p:spPr/>
        <p:txBody>
          <a:bodyPr>
            <a:normAutofit fontScale="70000" lnSpcReduction="20000"/>
          </a:bodyPr>
          <a:lstStyle/>
          <a:p>
            <a:r>
              <a:rPr lang="en-US" b="1" dirty="0"/>
              <a:t>Visual Studio Code (VS Code)</a:t>
            </a:r>
            <a:r>
              <a:rPr lang="en-US" dirty="0"/>
              <a:t/>
            </a:r>
            <a:br>
              <a:rPr lang="en-US" dirty="0"/>
            </a:br>
            <a:r>
              <a:rPr lang="en-US" dirty="0"/>
              <a:t>Used as the main code editor for writing and testing Python and ML code.</a:t>
            </a:r>
          </a:p>
          <a:p>
            <a:r>
              <a:rPr lang="en-US" b="1" dirty="0" err="1"/>
              <a:t>ChatGPT</a:t>
            </a:r>
            <a:r>
              <a:rPr lang="en-US" dirty="0"/>
              <a:t/>
            </a:r>
            <a:br>
              <a:rPr lang="en-US" dirty="0"/>
            </a:br>
            <a:r>
              <a:rPr lang="en-US" dirty="0"/>
              <a:t>Used to generate explanations, debug code, and understand ML concepts.</a:t>
            </a:r>
          </a:p>
          <a:p>
            <a:r>
              <a:rPr lang="en-US" b="1" dirty="0" err="1"/>
              <a:t>Git</a:t>
            </a:r>
            <a:r>
              <a:rPr lang="en-US" dirty="0"/>
              <a:t/>
            </a:r>
            <a:br>
              <a:rPr lang="en-US" dirty="0"/>
            </a:br>
            <a:r>
              <a:rPr lang="en-US" dirty="0"/>
              <a:t>Used for tracking changes in the project code.</a:t>
            </a:r>
          </a:p>
          <a:p>
            <a:r>
              <a:rPr lang="en-US" b="1" dirty="0" err="1"/>
              <a:t>GitHub</a:t>
            </a:r>
            <a:r>
              <a:rPr lang="en-US" dirty="0"/>
              <a:t/>
            </a:r>
            <a:br>
              <a:rPr lang="en-US" dirty="0"/>
            </a:br>
            <a:r>
              <a:rPr lang="en-US" dirty="0"/>
              <a:t>Used to store, share, and collaborate on the code online.</a:t>
            </a:r>
          </a:p>
          <a:p>
            <a:endParaRPr lang="en-IN" dirty="0"/>
          </a:p>
        </p:txBody>
      </p:sp>
      <p:pic>
        <p:nvPicPr>
          <p:cNvPr id="6146" name="Picture 2"/>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5410200" y="1249363"/>
            <a:ext cx="3657600" cy="233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3581400"/>
            <a:ext cx="3810000" cy="315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50508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2052" name="Picture 4" descr="Thank You Presentation Images | Template Presentation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381000"/>
            <a:ext cx="8766175" cy="6172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801475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250</TotalTime>
  <Words>727</Words>
  <Application>Microsoft Office PowerPoint</Application>
  <PresentationFormat>On-screen Show (4:3)</PresentationFormat>
  <Paragraphs>95</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Solstice</vt:lpstr>
      <vt:lpstr>ANIMAL DETECTION SYSTEM </vt:lpstr>
      <vt:lpstr>TABEL OF CONTENT </vt:lpstr>
      <vt:lpstr>INTRODUCTION</vt:lpstr>
      <vt:lpstr>PowerPoint Presentation</vt:lpstr>
      <vt:lpstr>Python</vt:lpstr>
      <vt:lpstr>PowerPoint Presentation</vt:lpstr>
      <vt:lpstr>PowerPoint Presentation</vt:lpstr>
      <vt:lpstr>Benefits</vt:lpstr>
      <vt:lpstr>Potential Applications:</vt:lpstr>
      <vt:lpstr>PowerPoint Presentation</vt:lpstr>
      <vt:lpstr>Future Directions</vt:lpstr>
      <vt:lpstr>UI of the project with result</vt:lpstr>
      <vt:lpstr>PowerPoint Presentation</vt:lpstr>
      <vt:lpstr>REFERENCE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BANKING SYSTEM </dc:title>
  <dc:creator>Dell</dc:creator>
  <cp:lastModifiedBy>Dell</cp:lastModifiedBy>
  <cp:revision>27</cp:revision>
  <dcterms:created xsi:type="dcterms:W3CDTF">2024-12-10T10:57:29Z</dcterms:created>
  <dcterms:modified xsi:type="dcterms:W3CDTF">2025-05-25T16:29:08Z</dcterms:modified>
</cp:coreProperties>
</file>